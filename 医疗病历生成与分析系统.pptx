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50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9DD0-48D5-47F0-8F3D-4695D052A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D424B-1408-4E7C-8280-77C88ADA2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F4DEC-8213-4BDF-BDEB-D6F7B62354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44A96-07CA-46BD-AA77-03A2287D36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999E2-4135-43C1-9720-329FCA9ABA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521AE-8376-4A5C-BD08-81A2CAF86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FC70-B01A-4925-AA01-03C38AB8C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11649-34A0-4599-9A9C-EAB76BB384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13FF7-2C3C-4D0C-9690-307B685AFF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F9D8B-179D-4539-A1B5-1A4653F92E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C489-B220-4FBE-AEE5-F915419C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DE515-EF12-427F-A165-D36A7808B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D3F2F-1C8F-4D4C-B80B-DD6EAD2D1A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738E0-C64A-46B1-9C6E-300BCD4041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A65B1-039A-444C-B92B-ECAA794124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C1B40-7E83-43D7-8269-13A505B38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9267A-FB9F-4C75-B015-E5A65389F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62C64-4E25-47DC-BC9F-D7B914E0E91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87A1B-B830-4E93-9AB9-87E35AA5F0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5F2CC-9188-441F-B4E2-AC450565D0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37EA-8496-4A8C-9A91-93CF10774C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CFCE-A956-4AA1-8339-BE664487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76E88-94B0-47D0-A1E7-BA3925086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4D6B0-E2F2-4B41-A105-473CEA43F47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E974A5-E684-478D-B472-7539F34F75A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F338B-7C9A-47AB-AAC2-5938FE77902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FDB8C-7BAE-4B1F-8739-1B15A4A85A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E5333-8615-42E8-91BB-19CA3B17C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592E40-CC90-42EF-985D-2ADAC09AD5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42E2-2D86-405B-8627-CDCCCF126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8FB05-B0B1-4811-BF45-6AC52F6461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E8E44-3702-4D18-A0DB-46B6320181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42047-6DAE-4A70-93DD-58694449CF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3C1E8-F15E-49B0-8F7F-21391514C61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81CFF6-077C-4879-8422-CFDDA699F9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FF44A-E0A4-45A8-BA8A-7A4B7A53D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E9A9-8BF0-4DB9-8205-667F5E9A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BC80E-CFEF-4312-B6BA-CED571642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2D0F-0578-495A-9F09-07BA3BF42B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3CE39-4311-42B5-803B-AC7AB696F01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651D9-A98E-4761-80FB-756B9A6A7B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90A9F-419D-4B47-83EA-056F351847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6DEA2-01B2-4596-A03B-469D415DD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B111C-595B-4450-A90A-B8FB5D054C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2ECCC-98E9-4F43-B593-3FDD11C59B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DC270-A9CA-4974-9B5C-9B1B77C0DF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D52A0-AA9B-4460-B755-BFCAF3239E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D24CD-94FF-488A-8260-00446CEC32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A9BE-8546-4987-9A67-1FFC088D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D5E8F-F2F3-454B-AE9D-204E47DE6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C1934-27E2-4FF5-A223-4808985049B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E8E18-9B9C-4C1B-89E5-4017BBA796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9BD72-A166-4570-8F22-178732534C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9DC15-17AD-42D7-9514-1B6BE931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65C1A-65FD-4CF3-BA23-25C41DDC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B6061-4D79-4296-A766-55FA8B3096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459D7-7C3E-46E2-8F6E-21DAF1FBBD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1CD54-DB9C-4347-BE77-4EBF620296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D7B46E-F926-4099-8AEB-B853D8F54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1159C-B513-4111-BFAB-0038967E8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63DE3-688D-4FAC-8C02-58E1E110ABF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2026/7/17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7D323-E6AD-4BBF-908D-DD93D0084E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8270-DB8F-4D68-8FFD-7B41D05ECE9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84684F-2BC8-4A25-B8B3-4D35FAE8C0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7238" cy="6853238"/>
          </a:xfrm>
          <a:prstGeom prst="rect">
            <a:avLst/>
          </a:prstGeom>
          <a:gradFill>
            <a:gsLst>
              <a:gs pos="0">
                <a:srgbClr val="F7F5EF"/>
              </a:gs>
              <a:gs pos="100000">
                <a:srgbClr val="E7F2EF"/>
              </a:gs>
            </a:gsLst>
            <a:lin ang="0"/>
          </a:gra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CBF88E-D944-4CEE-98E4-816B6FF30DFB}"/>
              </a:ext>
            </a:extLst>
          </p:cNvPr>
          <p:cNvSpPr>
            <a:spLocks noGrp="1"/>
          </p:cNvSpPr>
          <p:nvPr/>
        </p:nvSpPr>
        <p:spPr>
          <a:xfrm>
            <a:off x="914400" y="1066800"/>
            <a:ext cx="66675" cy="2400300"/>
          </a:xfrm>
          <a:prstGeom prst="rect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2CFD44-42C8-4DF0-8103-19631F718BE7}"/>
              </a:ext>
            </a:extLst>
          </p:cNvPr>
          <p:cNvSpPr>
            <a:spLocks noGrp="1"/>
          </p:cNvSpPr>
          <p:nvPr/>
        </p:nvSpPr>
        <p:spPr>
          <a:xfrm>
            <a:off x="1295400" y="971550"/>
            <a:ext cx="994410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2"/>
              </a:spcAft>
              <a:buNone/>
              <a:defRPr sz="165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医疗病历生成与分析系统</a:t>
            </a:r>
          </a:p>
          <a:p>
            <a:pPr algn="l">
              <a:spcAft>
                <a:spcPts val="14"/>
              </a:spcAft>
              <a:buNone/>
              <a:defRPr sz="165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把患者信息与既往诊疗记录，生成可复核的结构化病历</a:t>
            </a:r>
          </a:p>
          <a:p>
            <a:pPr algn="l">
              <a:buNone/>
              <a:defRPr sz="165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React  ·  Spring Boot  ·  Flask AI  ·  T5 / BERT  ·  MongoDB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3DBDB-3F4E-4C23-95D8-36C9A22F0F5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03251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59D88"/>
                </a:solidFill>
                <a:latin typeface="Microsoft YaHei"/>
                <a:ea typeface="Microsoft YaHei"/>
                <a:cs typeface="Microsoft YaHei"/>
              </a:rPr>
              <a:t>COURSE PROJECT 19  ·  TEAM OF FOUR</a:t>
            </a:r>
          </a:p>
          <a:p>
            <a:pPr algn="l">
              <a:spcAft>
                <a:spcPts val="10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刘龙羽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AI / NLP     </a:t>
            </a: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陈胤良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数据处理与质量     </a:t>
            </a: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周述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后端与安全     </a:t>
            </a: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陈裕杭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前端与体验</a:t>
            </a:r>
          </a:p>
          <a:p>
            <a:pPr algn="l"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2026 年 7 月</a:t>
            </a:r>
          </a:p>
        </p:txBody>
      </p:sp>
    </p:spTree>
    <p:extLst>
      <p:ext uri="{BB962C8B-B14F-4D97-AF65-F5344CB8AC3E}">
        <p14:creationId xmlns:p14="http://schemas.microsoft.com/office/powerpoint/2010/main" val="68549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20F3E5-2058-41CA-8A97-96DD2A27BCD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39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四层架构，把病例处理拆成可验证链路</a:t>
            </a:r>
          </a:p>
          <a:p>
            <a:pPr algn="l"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课程要求逐项落地，在线系统与离线数据流水线职责分离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73902-176B-4F3D-8CEA-D8B4D3163769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219200" cy="47625"/>
          </a:xfrm>
          <a:prstGeom prst="rect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4FF16-4219-4F4C-BC6B-6EE21175E784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76250" cy="3528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  <a:buNone/>
              <a:defRPr sz="112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728571-10A3-4AFD-B000-1E621796623E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214884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0A1DF-5BB1-417D-8EE7-3DB1A10B393D}"/>
              </a:ext>
            </a:extLst>
          </p:cNvPr>
          <p:cNvSpPr>
            <a:spLocks noGrp="1"/>
          </p:cNvSpPr>
          <p:nvPr/>
        </p:nvSpPr>
        <p:spPr>
          <a:xfrm>
            <a:off x="720090" y="15621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01  数据采集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结构化表单  ·  文档附件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351758-589A-4D25-95B4-0990306ED7AF}"/>
              </a:ext>
            </a:extLst>
          </p:cNvPr>
          <p:cNvSpPr>
            <a:spLocks noGrp="1"/>
          </p:cNvSpPr>
          <p:nvPr/>
        </p:nvSpPr>
        <p:spPr>
          <a:xfrm>
            <a:off x="2816352" y="1417320"/>
            <a:ext cx="214884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94481-A1F4-4EF3-9020-E54C68EA97C5}"/>
              </a:ext>
            </a:extLst>
          </p:cNvPr>
          <p:cNvSpPr>
            <a:spLocks noGrp="1"/>
          </p:cNvSpPr>
          <p:nvPr/>
        </p:nvSpPr>
        <p:spPr>
          <a:xfrm>
            <a:off x="2987802" y="15621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02  数据处理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清洗标准化  ·  特征提取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EB0F39-F2B5-4620-8C7D-5C0F44F2F341}"/>
              </a:ext>
            </a:extLst>
          </p:cNvPr>
          <p:cNvSpPr>
            <a:spLocks noGrp="1"/>
          </p:cNvSpPr>
          <p:nvPr/>
        </p:nvSpPr>
        <p:spPr>
          <a:xfrm>
            <a:off x="5084064" y="1417320"/>
            <a:ext cx="214884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BC8C2-08A7-4615-B807-7BCBB546F22B}"/>
              </a:ext>
            </a:extLst>
          </p:cNvPr>
          <p:cNvSpPr>
            <a:spLocks noGrp="1"/>
          </p:cNvSpPr>
          <p:nvPr/>
        </p:nvSpPr>
        <p:spPr>
          <a:xfrm>
            <a:off x="5255514" y="15621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03  病历生成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九段式结构  ·  规范输出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7B0B3F0-655B-46E5-957D-11A80E93CE19}"/>
              </a:ext>
            </a:extLst>
          </p:cNvPr>
          <p:cNvSpPr>
            <a:spLocks noGrp="1"/>
          </p:cNvSpPr>
          <p:nvPr/>
        </p:nvSpPr>
        <p:spPr>
          <a:xfrm>
            <a:off x="7351776" y="1417320"/>
            <a:ext cx="214884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E65BD7-CF8C-4086-819E-493F5CB05D61}"/>
              </a:ext>
            </a:extLst>
          </p:cNvPr>
          <p:cNvSpPr>
            <a:spLocks noGrp="1"/>
          </p:cNvSpPr>
          <p:nvPr/>
        </p:nvSpPr>
        <p:spPr>
          <a:xfrm>
            <a:off x="7523226" y="15621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04  辅助分析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症状  ·  诊断  ·  风险提示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D49F46-EFA9-4B58-9116-2649FE9657F2}"/>
              </a:ext>
            </a:extLst>
          </p:cNvPr>
          <p:cNvSpPr>
            <a:spLocks noGrp="1"/>
          </p:cNvSpPr>
          <p:nvPr/>
        </p:nvSpPr>
        <p:spPr>
          <a:xfrm>
            <a:off x="9619488" y="1417320"/>
            <a:ext cx="2148840" cy="1371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576EAE-2980-4B74-B87E-960C83CFAC6F}"/>
              </a:ext>
            </a:extLst>
          </p:cNvPr>
          <p:cNvSpPr>
            <a:spLocks noGrp="1"/>
          </p:cNvSpPr>
          <p:nvPr/>
        </p:nvSpPr>
        <p:spPr>
          <a:xfrm>
            <a:off x="9790938" y="1562100"/>
            <a:ext cx="1809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05  用户闭环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认证  ·  检索  ·  报告下载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D4FFEE-0188-4876-8283-FD5836EC2AB2}"/>
              </a:ext>
            </a:extLst>
          </p:cNvPr>
          <p:cNvSpPr>
            <a:spLocks noGrp="1"/>
          </p:cNvSpPr>
          <p:nvPr/>
        </p:nvSpPr>
        <p:spPr>
          <a:xfrm>
            <a:off x="822960" y="3703320"/>
            <a:ext cx="2834640" cy="1143000"/>
          </a:xfrm>
          <a:prstGeom prst="roundRect">
            <a:avLst>
              <a:gd name="adj" fmla="val 18333"/>
            </a:avLst>
          </a:prstGeom>
          <a:solidFill>
            <a:srgbClr val="F1F7F8"/>
          </a:solidFill>
          <a:ln w="11430">
            <a:solidFill>
              <a:srgbClr val="BDD7D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53F484-ECC1-4840-9B77-E10B0A6127F2}"/>
              </a:ext>
            </a:extLst>
          </p:cNvPr>
          <p:cNvSpPr>
            <a:spLocks noGrp="1"/>
          </p:cNvSpPr>
          <p:nvPr/>
        </p:nvSpPr>
        <p:spPr>
          <a:xfrm>
            <a:off x="1013460" y="3893821"/>
            <a:ext cx="2453640" cy="7543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React 前端</a:t>
            </a:r>
          </a:p>
          <a:p>
            <a:pPr algn="ctr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交互与状态  ·  :5173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734B2A6D-8FCB-4680-8D72-08EE15332E76}"/>
              </a:ext>
            </a:extLst>
          </p:cNvPr>
          <p:cNvSpPr>
            <a:spLocks noGrp="1"/>
          </p:cNvSpPr>
          <p:nvPr/>
        </p:nvSpPr>
        <p:spPr>
          <a:xfrm>
            <a:off x="3781425" y="4038600"/>
            <a:ext cx="723900" cy="342900"/>
          </a:xfrm>
          <a:prstGeom prst="rightArrow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EC995-61F4-45CB-A4F7-F45DCD1ECBC3}"/>
              </a:ext>
            </a:extLst>
          </p:cNvPr>
          <p:cNvSpPr>
            <a:spLocks noGrp="1"/>
          </p:cNvSpPr>
          <p:nvPr/>
        </p:nvSpPr>
        <p:spPr>
          <a:xfrm>
            <a:off x="3619500" y="3802381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  <a:buNone/>
              <a:defRPr sz="127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REST / JWT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5A3175C-B3FC-4A00-ACC8-041EF575CF9B}"/>
              </a:ext>
            </a:extLst>
          </p:cNvPr>
          <p:cNvSpPr>
            <a:spLocks noGrp="1"/>
          </p:cNvSpPr>
          <p:nvPr/>
        </p:nvSpPr>
        <p:spPr>
          <a:xfrm>
            <a:off x="4617720" y="3703320"/>
            <a:ext cx="2834640" cy="1143000"/>
          </a:xfrm>
          <a:prstGeom prst="roundRect">
            <a:avLst>
              <a:gd name="adj" fmla="val 18333"/>
            </a:avLst>
          </a:prstGeom>
          <a:solidFill>
            <a:srgbClr val="E8F5F2"/>
          </a:solidFill>
          <a:ln w="11430">
            <a:solidFill>
              <a:srgbClr val="BDD7D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9FC46B-AFDD-46B7-ADE0-D2CCDF52907D}"/>
              </a:ext>
            </a:extLst>
          </p:cNvPr>
          <p:cNvSpPr>
            <a:spLocks noGrp="1"/>
          </p:cNvSpPr>
          <p:nvPr/>
        </p:nvSpPr>
        <p:spPr>
          <a:xfrm>
            <a:off x="4808220" y="3893821"/>
            <a:ext cx="2453640" cy="703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Spring Boot 后端</a:t>
            </a:r>
          </a:p>
          <a:p>
            <a:pPr algn="ctr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认证 / 任务 / 文件  ·  :8080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7577A128-BDB5-42D4-9AA7-4356C23C2A77}"/>
              </a:ext>
            </a:extLst>
          </p:cNvPr>
          <p:cNvSpPr>
            <a:spLocks noGrp="1"/>
          </p:cNvSpPr>
          <p:nvPr/>
        </p:nvSpPr>
        <p:spPr>
          <a:xfrm>
            <a:off x="7648575" y="4038600"/>
            <a:ext cx="723900" cy="342900"/>
          </a:xfrm>
          <a:prstGeom prst="rightArrow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60D356-5F0E-44B9-98B0-7D68B8EE9057}"/>
              </a:ext>
            </a:extLst>
          </p:cNvPr>
          <p:cNvSpPr>
            <a:spLocks noGrp="1"/>
          </p:cNvSpPr>
          <p:nvPr/>
        </p:nvSpPr>
        <p:spPr>
          <a:xfrm>
            <a:off x="7452360" y="3823336"/>
            <a:ext cx="1047750" cy="2247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  <a:buNone/>
              <a:defRPr sz="127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异步 HTTP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A830CD2-6919-44FC-AF5F-D194C303DB8D}"/>
              </a:ext>
            </a:extLst>
          </p:cNvPr>
          <p:cNvSpPr>
            <a:spLocks noGrp="1"/>
          </p:cNvSpPr>
          <p:nvPr/>
        </p:nvSpPr>
        <p:spPr>
          <a:xfrm>
            <a:off x="8412480" y="3703320"/>
            <a:ext cx="2834640" cy="1143000"/>
          </a:xfrm>
          <a:prstGeom prst="roundRect">
            <a:avLst>
              <a:gd name="adj" fmla="val 18333"/>
            </a:avLst>
          </a:prstGeom>
          <a:solidFill>
            <a:srgbClr val="ECF3FA"/>
          </a:solidFill>
          <a:ln w="11430">
            <a:solidFill>
              <a:srgbClr val="BDD7D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4B5EC3-5930-4248-8CA8-C08C235BB625}"/>
              </a:ext>
            </a:extLst>
          </p:cNvPr>
          <p:cNvSpPr>
            <a:spLocks noGrp="1"/>
          </p:cNvSpPr>
          <p:nvPr/>
        </p:nvSpPr>
        <p:spPr>
          <a:xfrm>
            <a:off x="8602980" y="3893820"/>
            <a:ext cx="2453640" cy="7543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Flask AI 服务</a:t>
            </a:r>
          </a:p>
          <a:p>
            <a:pPr algn="ctr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模型 / 检索 / 规则  ·  :5000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70A8073-C42E-4AE5-9EDE-98676CCF9BF8}"/>
              </a:ext>
            </a:extLst>
          </p:cNvPr>
          <p:cNvSpPr>
            <a:spLocks noGrp="1"/>
          </p:cNvSpPr>
          <p:nvPr/>
        </p:nvSpPr>
        <p:spPr>
          <a:xfrm>
            <a:off x="4617720" y="5257800"/>
            <a:ext cx="2834640" cy="868680"/>
          </a:xfrm>
          <a:prstGeom prst="roundRect">
            <a:avLst>
              <a:gd name="adj" fmla="val 19737"/>
            </a:avLst>
          </a:prstGeom>
          <a:solidFill>
            <a:srgbClr val="E5F4F0"/>
          </a:solidFill>
          <a:ln w="11430">
            <a:solidFill>
              <a:srgbClr val="AED9C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904B97-988D-4FB0-99B6-C3C9C859CB8D}"/>
              </a:ext>
            </a:extLst>
          </p:cNvPr>
          <p:cNvSpPr>
            <a:spLocks noGrp="1"/>
          </p:cNvSpPr>
          <p:nvPr/>
        </p:nvSpPr>
        <p:spPr>
          <a:xfrm>
            <a:off x="4808220" y="5353050"/>
            <a:ext cx="2453640" cy="6868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6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MongoDB</a:t>
            </a:r>
          </a:p>
          <a:p>
            <a:pPr algn="ctr"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F746C"/>
                </a:solidFill>
                <a:latin typeface="Microsoft YaHei"/>
                <a:ea typeface="Microsoft YaHei"/>
                <a:cs typeface="Microsoft YaHei"/>
              </a:rPr>
              <a:t>病例 · 任务 · 用户 · 令牌</a:t>
            </a:r>
          </a:p>
        </p:txBody>
      </p:sp>
      <p:cxnSp>
        <p:nvCxnSpPr>
          <p:cNvPr id="132" name="Connector 26"/>
          <p:cNvCxnSpPr/>
          <p:nvPr/>
        </p:nvCxnSpPr>
        <p:spPr>
          <a:xfrm>
            <a:off x="6035040" y="4846320"/>
            <a:ext cx="0" cy="411480"/>
          </a:xfrm>
          <a:prstGeom prst="bentConnector3">
            <a:avLst/>
          </a:prstGeom>
          <a:ln w="23813">
            <a:solidFill>
              <a:srgbClr val="159D8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2B44BCF-F657-4553-8681-97F48B79D415}"/>
              </a:ext>
            </a:extLst>
          </p:cNvPr>
          <p:cNvSpPr>
            <a:spLocks noGrp="1"/>
          </p:cNvSpPr>
          <p:nvPr/>
        </p:nvSpPr>
        <p:spPr>
          <a:xfrm>
            <a:off x="8572500" y="5048250"/>
            <a:ext cx="2781300" cy="1465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离线数据流水线</a:t>
            </a:r>
          </a:p>
          <a:p>
            <a:pPr algn="l">
              <a:spcAft>
                <a:spcPts val="4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NHANES 合并 → 标准化 → 质量检查</a:t>
            </a:r>
          </a:p>
          <a:p>
            <a:pPr algn="l"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与在线链路解耦，输出可复现</a:t>
            </a:r>
          </a:p>
        </p:txBody>
      </p:sp>
    </p:spTree>
    <p:extLst>
      <p:ext uri="{BB962C8B-B14F-4D97-AF65-F5344CB8AC3E}">
        <p14:creationId xmlns:p14="http://schemas.microsoft.com/office/powerpoint/2010/main" val="3700032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4FC21-125D-4543-B3F9-8DC1197F2DF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39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T5 Seq2Seq 真正承担病历生成</a:t>
            </a:r>
          </a:p>
          <a:p>
            <a:pPr algn="l"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输入患者自述与已发生诊疗事实；生成四段叙述，再安全组装十段病历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3896A-F31E-4FEE-A7FE-96110BDB03F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219200" cy="47625"/>
          </a:xfrm>
          <a:prstGeom prst="rect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D3F1-9C53-4637-AB86-73BE2CD11D8B}"/>
              </a:ext>
            </a:extLst>
          </p:cNvPr>
          <p:cNvSpPr>
            <a:spLocks noGrp="1"/>
          </p:cNvSpPr>
          <p:nvPr/>
        </p:nvSpPr>
        <p:spPr>
          <a:xfrm>
            <a:off x="11156950" y="6342507"/>
            <a:ext cx="476250" cy="3528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  <a:buNone/>
              <a:defRPr sz="112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9FEFC3-833E-47A3-92D9-71D48BBC4806}"/>
              </a:ext>
            </a:extLst>
          </p:cNvPr>
          <p:cNvSpPr>
            <a:spLocks noGrp="1"/>
          </p:cNvSpPr>
          <p:nvPr/>
        </p:nvSpPr>
        <p:spPr>
          <a:xfrm>
            <a:off x="548640" y="1463040"/>
            <a:ext cx="6675120" cy="1170432"/>
          </a:xfrm>
          <a:prstGeom prst="roundRect">
            <a:avLst>
              <a:gd name="adj" fmla="val 14648"/>
            </a:avLst>
          </a:prstGeom>
          <a:solidFill>
            <a:srgbClr val="FFFFFF"/>
          </a:solidFill>
          <a:ln w="11430">
            <a:solidFill>
              <a:srgbClr val="159D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A22A8-BCA7-4844-8B37-F3C3FBBE33DB}"/>
              </a:ext>
            </a:extLst>
          </p:cNvPr>
          <p:cNvSpPr>
            <a:spLocks noGrp="1"/>
          </p:cNvSpPr>
          <p:nvPr/>
        </p:nvSpPr>
        <p:spPr>
          <a:xfrm>
            <a:off x="800100" y="1634491"/>
            <a:ext cx="6172200" cy="765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9D88"/>
                </a:solidFill>
                <a:latin typeface="Microsoft YaHei"/>
                <a:ea typeface="Microsoft YaHei"/>
                <a:cs typeface="Microsoft YaHei"/>
              </a:rPr>
              <a:t>01  Transformer 生成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Randeng-T5-77M  ·  生成主诉、现病史、既往史、辅助检查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1BE9A5-64E7-4BD4-AC54-BB70F22360D0}"/>
              </a:ext>
            </a:extLst>
          </p:cNvPr>
          <p:cNvSpPr>
            <a:spLocks noGrp="1"/>
          </p:cNvSpPr>
          <p:nvPr/>
        </p:nvSpPr>
        <p:spPr>
          <a:xfrm>
            <a:off x="548640" y="2788920"/>
            <a:ext cx="6675120" cy="1170432"/>
          </a:xfrm>
          <a:prstGeom prst="roundRect">
            <a:avLst>
              <a:gd name="adj" fmla="val 14648"/>
            </a:avLst>
          </a:prstGeom>
          <a:solidFill>
            <a:srgbClr val="FFFFFF"/>
          </a:solidFill>
          <a:ln w="11430">
            <a:solidFill>
              <a:srgbClr val="2F83A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8BE68-1D1F-4077-9EBC-5BBFF94FCF03}"/>
              </a:ext>
            </a:extLst>
          </p:cNvPr>
          <p:cNvSpPr>
            <a:spLocks noGrp="1"/>
          </p:cNvSpPr>
          <p:nvPr/>
        </p:nvSpPr>
        <p:spPr>
          <a:xfrm>
            <a:off x="800100" y="2960371"/>
            <a:ext cx="6172200" cy="741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02  全字段书面化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过敏史 / 生命体征 / 诊断 / 治疗 / 用药保守规范化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EABDFC-314D-4D03-9A1C-9FA02CA54DC2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6675120" cy="1170432"/>
          </a:xfrm>
          <a:prstGeom prst="roundRect">
            <a:avLst>
              <a:gd name="adj" fmla="val 14648"/>
            </a:avLst>
          </a:prstGeom>
          <a:solidFill>
            <a:srgbClr val="FFFFFF"/>
          </a:solidFill>
          <a:ln w="11430">
            <a:solidFill>
              <a:srgbClr val="B9782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5DF76-DAA6-410D-AF23-0349C439DE55}"/>
              </a:ext>
            </a:extLst>
          </p:cNvPr>
          <p:cNvSpPr>
            <a:spLocks noGrp="1"/>
          </p:cNvSpPr>
          <p:nvPr/>
        </p:nvSpPr>
        <p:spPr>
          <a:xfrm>
            <a:off x="800100" y="4286251"/>
            <a:ext cx="6172200" cy="79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97820"/>
                </a:solidFill>
                <a:latin typeface="Microsoft YaHei"/>
                <a:ea typeface="Microsoft YaHei"/>
                <a:cs typeface="Microsoft YaHei"/>
              </a:rPr>
              <a:t>03  事实守卫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数值 / 药名 / 术语 / 缺失段校验  ·  失败显式标记兜底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CC9A9-A03A-4928-A4A9-B96E9670DBB4}"/>
              </a:ext>
            </a:extLst>
          </p:cNvPr>
          <p:cNvSpPr>
            <a:spLocks noGrp="1"/>
          </p:cNvSpPr>
          <p:nvPr/>
        </p:nvSpPr>
        <p:spPr>
          <a:xfrm>
            <a:off x="548640" y="5456682"/>
            <a:ext cx="10915650" cy="971550"/>
          </a:xfrm>
          <a:prstGeom prst="roundRect">
            <a:avLst>
              <a:gd name="adj" fmla="val 17647"/>
            </a:avLst>
          </a:prstGeom>
          <a:solidFill>
            <a:srgbClr val="EDF5F4"/>
          </a:solidFill>
          <a:ln w="11430">
            <a:solidFill>
              <a:srgbClr val="D2E1DF"/>
            </a:solidFill>
            <a:prstDash val="solid"/>
          </a:ln>
        </p:spPr>
        <p:txBody>
          <a:bodyPr wrap="square" lIns="228600" tIns="123825" rIns="228600" bIns="114300" anchor="ctr">
            <a:noAutofit/>
          </a:bodyPr>
          <a:lstStyle/>
          <a:p>
            <a:pPr algn="l">
              <a:spcAft>
                <a:spcPts val="7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5 / 5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口语专项     </a:t>
            </a:r>
            <a:r>
              <a:rPr sz="240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0 次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模板兜底     </a:t>
            </a:r>
            <a:r>
              <a:rPr sz="24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0 个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事实遗漏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record-gen-t5-v1.2.0；真实 HTTP、结构化字段与 DOCX 同步验收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9ABC4B-22EE-4B14-812C-B7189ACE62C8}"/>
              </a:ext>
            </a:extLst>
          </p:cNvPr>
          <p:cNvSpPr>
            <a:spLocks noGrp="1"/>
          </p:cNvSpPr>
          <p:nvPr/>
        </p:nvSpPr>
        <p:spPr>
          <a:xfrm>
            <a:off x="7429500" y="4788077"/>
            <a:ext cx="4095750" cy="377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  <a:buNone/>
              <a:defRPr sz="127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真实端到端生成的住院病历  ·  Transformer 路径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7070" y="236630"/>
            <a:ext cx="3448980" cy="446338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7536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4FC21-125D-4543-B3F9-8DC1197F2DF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39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辅助诊断独立于病历生成，不覆盖医生输入</a:t>
            </a:r>
          </a:p>
          <a:p>
            <a:pPr algn="l"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BERT 提供 5 类概率，知识检索扩展到 20 类，规则负责否定与风险信号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3896A-F31E-4FEE-A7FE-96110BDB03F2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219200" cy="47625"/>
          </a:xfrm>
          <a:prstGeom prst="rect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D3F1-9C53-4637-AB86-73BE2CD11D8B}"/>
              </a:ext>
            </a:extLst>
          </p:cNvPr>
          <p:cNvSpPr>
            <a:spLocks noGrp="1"/>
          </p:cNvSpPr>
          <p:nvPr/>
        </p:nvSpPr>
        <p:spPr>
          <a:xfrm>
            <a:off x="11156950" y="6342507"/>
            <a:ext cx="476250" cy="3528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  <a:buNone/>
              <a:defRPr sz="112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9FEFC3-833E-47A3-92D9-71D48BBC4806}"/>
              </a:ext>
            </a:extLst>
          </p:cNvPr>
          <p:cNvSpPr>
            <a:spLocks noGrp="1"/>
          </p:cNvSpPr>
          <p:nvPr/>
        </p:nvSpPr>
        <p:spPr>
          <a:xfrm>
            <a:off x="548640" y="1463040"/>
            <a:ext cx="6675120" cy="1170432"/>
          </a:xfrm>
          <a:prstGeom prst="roundRect">
            <a:avLst>
              <a:gd name="adj" fmla="val 14648"/>
            </a:avLst>
          </a:prstGeom>
          <a:solidFill>
            <a:srgbClr val="FFFFFF"/>
          </a:solidFill>
          <a:ln w="11430">
            <a:solidFill>
              <a:srgbClr val="159D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A22A8-BCA7-4844-8B37-F3C3FBBE33DB}"/>
              </a:ext>
            </a:extLst>
          </p:cNvPr>
          <p:cNvSpPr>
            <a:spLocks noGrp="1"/>
          </p:cNvSpPr>
          <p:nvPr/>
        </p:nvSpPr>
        <p:spPr>
          <a:xfrm>
            <a:off x="800100" y="1634491"/>
            <a:ext cx="6172200" cy="765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9D88"/>
                </a:solidFill>
                <a:latin typeface="Microsoft YaHei"/>
                <a:ea typeface="Microsoft YaHei"/>
                <a:cs typeface="Microsoft YaHei"/>
              </a:rPr>
              <a:t>01  BERT v2.0.0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5 类核心病种  ·  3,858 条训练  ·  中文预训练模型微调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1BE9A5-64E7-4BD4-AC54-BB70F22360D0}"/>
              </a:ext>
            </a:extLst>
          </p:cNvPr>
          <p:cNvSpPr>
            <a:spLocks noGrp="1"/>
          </p:cNvSpPr>
          <p:nvPr/>
        </p:nvSpPr>
        <p:spPr>
          <a:xfrm>
            <a:off x="548640" y="2788920"/>
            <a:ext cx="6675120" cy="1170432"/>
          </a:xfrm>
          <a:prstGeom prst="roundRect">
            <a:avLst>
              <a:gd name="adj" fmla="val 14648"/>
            </a:avLst>
          </a:prstGeom>
          <a:solidFill>
            <a:srgbClr val="FFFFFF"/>
          </a:solidFill>
          <a:ln w="11430">
            <a:solidFill>
              <a:srgbClr val="2F83A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48BE68-1D1F-4077-9EBC-5BBFF94FCF03}"/>
              </a:ext>
            </a:extLst>
          </p:cNvPr>
          <p:cNvSpPr>
            <a:spLocks noGrp="1"/>
          </p:cNvSpPr>
          <p:nvPr/>
        </p:nvSpPr>
        <p:spPr>
          <a:xfrm>
            <a:off x="800100" y="2960371"/>
            <a:ext cx="6172200" cy="741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02  知识检索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9,620 条疾病—症状知识  ·  覆盖 20 类常见病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AEABDFC-314D-4D03-9A1C-9FA02CA54DC2}"/>
              </a:ext>
            </a:extLst>
          </p:cNvPr>
          <p:cNvSpPr>
            <a:spLocks noGrp="1"/>
          </p:cNvSpPr>
          <p:nvPr/>
        </p:nvSpPr>
        <p:spPr>
          <a:xfrm>
            <a:off x="548640" y="4114800"/>
            <a:ext cx="6675120" cy="1170432"/>
          </a:xfrm>
          <a:prstGeom prst="roundRect">
            <a:avLst>
              <a:gd name="adj" fmla="val 14648"/>
            </a:avLst>
          </a:prstGeom>
          <a:solidFill>
            <a:srgbClr val="FFFFFF"/>
          </a:solidFill>
          <a:ln w="11430">
            <a:solidFill>
              <a:srgbClr val="B9782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5DF76-DAA6-410D-AF23-0349C439DE55}"/>
              </a:ext>
            </a:extLst>
          </p:cNvPr>
          <p:cNvSpPr>
            <a:spLocks noGrp="1"/>
          </p:cNvSpPr>
          <p:nvPr/>
        </p:nvSpPr>
        <p:spPr>
          <a:xfrm>
            <a:off x="800100" y="4286251"/>
            <a:ext cx="6172200" cy="79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97820"/>
                </a:solidFill>
                <a:latin typeface="Microsoft YaHei"/>
                <a:ea typeface="Microsoft YaHei"/>
                <a:cs typeface="Microsoft YaHei"/>
              </a:rPr>
              <a:t>03  规则与安全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否定语义  ·  数值识别  ·  危险信号  ·  低置信度拒答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CC9A9-A03A-4928-A4A9-B96E9670DBB4}"/>
              </a:ext>
            </a:extLst>
          </p:cNvPr>
          <p:cNvSpPr>
            <a:spLocks noGrp="1"/>
          </p:cNvSpPr>
          <p:nvPr/>
        </p:nvSpPr>
        <p:spPr>
          <a:xfrm>
            <a:off x="548640" y="5456682"/>
            <a:ext cx="10915650" cy="971550"/>
          </a:xfrm>
          <a:prstGeom prst="roundRect">
            <a:avLst>
              <a:gd name="adj" fmla="val 17647"/>
            </a:avLst>
          </a:prstGeom>
          <a:solidFill>
            <a:srgbClr val="EDF5F4"/>
          </a:solidFill>
          <a:ln w="11430">
            <a:solidFill>
              <a:srgbClr val="D2E1DF"/>
            </a:solidFill>
            <a:prstDash val="solid"/>
          </a:ln>
        </p:spPr>
        <p:txBody>
          <a:bodyPr wrap="square" lIns="228600" tIns="123825" rIns="228600" bIns="114300" anchor="ctr">
            <a:noAutofit/>
          </a:bodyPr>
          <a:lstStyle/>
          <a:p>
            <a:pPr algn="l">
              <a:spcAft>
                <a:spcPts val="7"/>
              </a:spcAft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84.99%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Accuracy     </a:t>
            </a:r>
            <a:r>
              <a:rPr sz="240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85.98%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Macro-F1     </a:t>
            </a:r>
            <a:r>
              <a:rPr sz="24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453</a:t>
            </a:r>
            <a:r>
              <a:rPr sz="157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  例独立测试</a:t>
            </a:r>
          </a:p>
          <a:p>
            <a:pPr algn="l">
              <a:buNone/>
              <a:defRPr sz="1575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AI 结果只进入辅助分析区；正式病历诊断始终以医生输入为准</a:t>
            </a:r>
          </a:p>
        </p:txBody>
      </p:sp>
      <p:pic>
        <p:nvPicPr>
          <p:cNvPr id="25" name="Picture 11"/>
          <p:cNvPicPr>
            <a:picLocks noChangeAspect="1"/>
          </p:cNvPicPr>
          <p:nvPr/>
        </p:nvPicPr>
        <p:blipFill>
          <a:blip r:embed="rId3"/>
          <a:srcRect l="7273" r="13466"/>
          <a:stretch>
            <a:fillRect/>
          </a:stretch>
        </p:blipFill>
        <p:spPr>
          <a:xfrm>
            <a:off x="7547610" y="929320"/>
            <a:ext cx="4095750" cy="3821470"/>
          </a:xfrm>
          <a:prstGeom prst="roundRect">
            <a:avLst>
              <a:gd name="adj" fmla="val 5031"/>
            </a:avLst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9ABC4B-22EE-4B14-812C-B7189ACE62C8}"/>
              </a:ext>
            </a:extLst>
          </p:cNvPr>
          <p:cNvSpPr>
            <a:spLocks noGrp="1"/>
          </p:cNvSpPr>
          <p:nvPr/>
        </p:nvSpPr>
        <p:spPr>
          <a:xfrm>
            <a:off x="7429500" y="4788077"/>
            <a:ext cx="4095750" cy="3774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  <a:buNone/>
              <a:defRPr sz="127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BERT 五类核心诊断混淆矩阵  ·  独立测试集</a:t>
            </a:r>
          </a:p>
        </p:txBody>
      </p:sp>
    </p:spTree>
    <p:extLst>
      <p:ext uri="{BB962C8B-B14F-4D97-AF65-F5344CB8AC3E}">
        <p14:creationId xmlns:p14="http://schemas.microsoft.com/office/powerpoint/2010/main" val="87536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24FA23-3876-4A71-9F16-B0587D5C16EA}"/>
              </a:ext>
            </a:extLst>
          </p:cNvPr>
          <p:cNvSpPr>
            <a:spLocks noGrp="1"/>
          </p:cNvSpPr>
          <p:nvPr/>
        </p:nvSpPr>
        <p:spPr>
          <a:xfrm>
            <a:off x="609600" y="378459"/>
            <a:ext cx="10839450" cy="58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"/>
              </a:spcAft>
              <a:buNone/>
              <a:defRPr sz="15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全口语输入能够生成书面病历并导出 DOCX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BFF155-BF1D-4C68-8A8D-E1A55F4CC0C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219200" cy="47625"/>
          </a:xfrm>
          <a:prstGeom prst="rect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67F95-F6EE-4B70-BBB5-6D0E9A036C4E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76250" cy="3528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  <a:buNone/>
              <a:defRPr sz="112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80C06-5448-4CFE-8555-7CB89E0D3054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5143500" cy="802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800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01  患者口语与诊疗记录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31045-5960-4024-BC55-A484AB28BE87}"/>
              </a:ext>
            </a:extLst>
          </p:cNvPr>
          <p:cNvSpPr>
            <a:spLocks noGrp="1"/>
          </p:cNvSpPr>
          <p:nvPr/>
        </p:nvSpPr>
        <p:spPr>
          <a:xfrm>
            <a:off x="6438900" y="1381125"/>
            <a:ext cx="5143500" cy="802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80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02  结构化病历与分析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10966F-E471-4AA5-B375-AFA4023383B9}"/>
              </a:ext>
            </a:extLst>
          </p:cNvPr>
          <p:cNvSpPr>
            <a:spLocks noGrp="1"/>
          </p:cNvSpPr>
          <p:nvPr/>
        </p:nvSpPr>
        <p:spPr>
          <a:xfrm>
            <a:off x="542925" y="5800725"/>
            <a:ext cx="10972800" cy="647700"/>
          </a:xfrm>
          <a:prstGeom prst="roundRect">
            <a:avLst>
              <a:gd name="adj" fmla="val 23529"/>
            </a:avLst>
          </a:prstGeom>
          <a:solidFill>
            <a:srgbClr val="EDF5F4"/>
          </a:solidFill>
          <a:ln w="11430">
            <a:solidFill>
              <a:srgbClr val="D2E1DF"/>
            </a:solidFill>
            <a:prstDash val="solid"/>
          </a:ln>
        </p:spPr>
        <p:txBody>
          <a:bodyPr wrap="square" lIns="171450" tIns="76200" rIns="171450" bIns="7620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600"/>
              </a:spcAft>
              <a:buNone/>
              <a:defRPr sz="165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17 字段输入   →   T5 书面化   →   事实守卫   →   人工复核   →   DOCX 报告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1786" r="1786"/>
          <a:stretch>
            <a:fillRect/>
          </a:stretch>
        </p:blipFill>
        <p:spPr>
          <a:xfrm>
            <a:off x="368299" y="1752600"/>
            <a:ext cx="6123214" cy="3968750"/>
          </a:xfrm>
          <a:prstGeom prst="roundRect">
            <a:avLst>
              <a:gd name="adj" fmla="val 5143"/>
            </a:avLst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rcRect l="1786" r="1786"/>
          <a:stretch>
            <a:fillRect/>
          </a:stretch>
        </p:blipFill>
        <p:spPr>
          <a:xfrm>
            <a:off x="5529037" y="1752600"/>
            <a:ext cx="6123214" cy="3968750"/>
          </a:xfrm>
          <a:prstGeom prst="roundRect">
            <a:avLst>
              <a:gd name="adj" fmla="val 5143"/>
            </a:avLst>
          </a:prstGeom>
        </p:spPr>
      </p:pic>
    </p:spTree>
    <p:extLst>
      <p:ext uri="{BB962C8B-B14F-4D97-AF65-F5344CB8AC3E}">
        <p14:creationId xmlns:p14="http://schemas.microsoft.com/office/powerpoint/2010/main" val="190535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52F3A-0AB1-4133-B330-6266BAF2B77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8394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数据处理把原始多表变成可复现的数据底座</a:t>
            </a:r>
            <a:endParaRPr sz="3600" b="1" dirty="0">
              <a:solidFill>
                <a:srgbClr val="243139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数据处理与质量｜公开数据、病例字段和质量报告统一到同一套标准</a:t>
            </a:r>
            <a:endParaRPr sz="1425" b="0" dirty="0">
              <a:solidFill>
                <a:srgbClr val="60727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841A0A-87C3-4665-B6FA-96CD84EDBC87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1219200" cy="47625"/>
          </a:xfrm>
          <a:prstGeom prst="rect">
            <a:avLst/>
          </a:prstGeom>
          <a:solidFill>
            <a:srgbClr val="159D88"/>
          </a:solidFill>
          <a:ln w="0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57E09-7093-4572-8123-0942A1C45A9D}"/>
              </a:ext>
            </a:extLst>
          </p:cNvPr>
          <p:cNvSpPr>
            <a:spLocks noGrp="1"/>
          </p:cNvSpPr>
          <p:nvPr/>
        </p:nvSpPr>
        <p:spPr>
          <a:xfrm>
            <a:off x="11125200" y="6334125"/>
            <a:ext cx="476250" cy="3528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600"/>
              </a:spcAft>
              <a:buNone/>
              <a:defRPr sz="1125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8191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E48109-7D39-4530-95E9-D7585F2206B2}"/>
              </a:ext>
            </a:extLst>
          </p:cNvPr>
          <p:cNvSpPr>
            <a:spLocks noGrp="1"/>
          </p:cNvSpPr>
          <p:nvPr/>
        </p:nvSpPr>
        <p:spPr>
          <a:xfrm>
            <a:off x="548640" y="1417320"/>
            <a:ext cx="3611880" cy="1645920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4440C0-8A8A-4885-BBF6-93608163F616}"/>
              </a:ext>
            </a:extLst>
          </p:cNvPr>
          <p:cNvSpPr>
            <a:spLocks noGrp="1"/>
          </p:cNvSpPr>
          <p:nvPr/>
        </p:nvSpPr>
        <p:spPr>
          <a:xfrm>
            <a:off x="777240" y="1550670"/>
            <a:ext cx="315468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47A6C"/>
                </a:solidFill>
                <a:latin typeface="Microsoft YaHei"/>
                <a:ea typeface="Microsoft YaHei"/>
                <a:cs typeface="Microsoft YaHei"/>
              </a:rPr>
              <a:t>7 张</a:t>
            </a:r>
          </a:p>
          <a:p>
            <a:pPr algn="l">
              <a:spcAft>
                <a:spcPts val="6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NHANES 原始表</a:t>
            </a:r>
          </a:p>
          <a:p>
            <a:pPr algn="l"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按 SEQN 完整合并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51615E6-DB6D-476D-8520-DC8C59BEAD27}"/>
              </a:ext>
            </a:extLst>
          </p:cNvPr>
          <p:cNvSpPr>
            <a:spLocks noGrp="1"/>
          </p:cNvSpPr>
          <p:nvPr/>
        </p:nvSpPr>
        <p:spPr>
          <a:xfrm>
            <a:off x="4297680" y="1417320"/>
            <a:ext cx="3611880" cy="1645920"/>
          </a:xfrm>
          <a:prstGeom prst="roundRect">
            <a:avLst>
              <a:gd name="adj" fmla="val 11574"/>
            </a:avLst>
          </a:prstGeom>
          <a:solidFill>
            <a:srgbClr val="EAF3F7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00C24-3EAC-4314-8132-89E3AC2A0124}"/>
              </a:ext>
            </a:extLst>
          </p:cNvPr>
          <p:cNvSpPr>
            <a:spLocks noGrp="1"/>
          </p:cNvSpPr>
          <p:nvPr/>
        </p:nvSpPr>
        <p:spPr>
          <a:xfrm>
            <a:off x="4526280" y="1550670"/>
            <a:ext cx="315468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9,254</a:t>
            </a:r>
          </a:p>
          <a:p>
            <a:pPr algn="l">
              <a:spcAft>
                <a:spcPts val="6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条标准化样本</a:t>
            </a:r>
          </a:p>
          <a:p>
            <a:pPr algn="l"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155 列 → 34 列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179B11-0E0D-4FF3-8EB8-83D104B49E0B}"/>
              </a:ext>
            </a:extLst>
          </p:cNvPr>
          <p:cNvSpPr>
            <a:spLocks noGrp="1"/>
          </p:cNvSpPr>
          <p:nvPr/>
        </p:nvSpPr>
        <p:spPr>
          <a:xfrm>
            <a:off x="8046720" y="1417320"/>
            <a:ext cx="3611880" cy="1645920"/>
          </a:xfrm>
          <a:prstGeom prst="roundRect">
            <a:avLst>
              <a:gd name="adj" fmla="val 11574"/>
            </a:avLst>
          </a:prstGeom>
          <a:solidFill>
            <a:srgbClr val="FFFFFF"/>
          </a:solidFill>
          <a:ln w="11430">
            <a:solidFill>
              <a:srgbClr val="D2E1D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11BF5-CB85-4A6D-B7A7-8888963F5AF4}"/>
              </a:ext>
            </a:extLst>
          </p:cNvPr>
          <p:cNvSpPr>
            <a:spLocks noGrp="1"/>
          </p:cNvSpPr>
          <p:nvPr/>
        </p:nvSpPr>
        <p:spPr>
          <a:xfrm>
            <a:off x="8275320" y="1550670"/>
            <a:ext cx="315468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2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5 步</a:t>
            </a:r>
          </a:p>
          <a:p>
            <a:pPr algn="l">
              <a:spcAft>
                <a:spcPts val="6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可复现流水线</a:t>
            </a:r>
          </a:p>
          <a:p>
            <a:pPr algn="l"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合并 · 标准化 · 质检 · 子集 · 校验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30CBBF-DDE1-44D8-8646-01FB31392336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10972800" cy="2794000"/>
          </a:xfrm>
          <a:prstGeom prst="roundRect">
            <a:avLst>
              <a:gd name="adj" fmla="val 7813"/>
            </a:avLst>
          </a:prstGeom>
          <a:solidFill>
            <a:srgbClr val="EDF5F4"/>
          </a:solidFill>
          <a:ln w="11430">
            <a:solidFill>
              <a:srgbClr val="D2E1DF"/>
            </a:solidFill>
            <a:prstDash val="solid"/>
          </a:ln>
        </p:spPr>
        <p:txBody>
          <a:bodyPr wrap="square" lIns="285750" tIns="228600" rIns="285750" bIns="209550" anchor="ctr">
            <a:noAutofit/>
          </a:bodyPr>
          <a:lstStyle/>
          <a:p>
            <a:pPr algn="l">
              <a:spcAft>
                <a:spcPts val="13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59D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20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字段对齐｜</a:t>
            </a:r>
            <a:r>
              <a:rPr sz="20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lowerCamelCase → snake_case，统一三端输入</a:t>
            </a:r>
          </a:p>
          <a:p>
            <a:pPr algn="l">
              <a:spcAft>
                <a:spcPts val="13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2F83A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20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质量检查｜</a:t>
            </a:r>
            <a:r>
              <a:rPr sz="20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缺失率、分布、异常值均有报告；异常只标记复核</a:t>
            </a:r>
          </a:p>
          <a:p>
            <a:pPr algn="l">
              <a:spcAft>
                <a:spcPts val="13"/>
              </a:spcAft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159D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20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分析子集｜</a:t>
            </a:r>
            <a:r>
              <a:rPr sz="20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糖尿病 5,804 · 肾功能 5,798 · 心血管 5,525</a:t>
            </a:r>
          </a:p>
          <a:p>
            <a:pPr algn="l">
              <a:buNone/>
              <a:defRPr sz="1800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>
                <a:solidFill>
                  <a:srgbClr val="B97820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2000" b="1">
                <a:solidFill>
                  <a:srgbClr val="243139"/>
                </a:solidFill>
                <a:latin typeface="Microsoft YaHei"/>
                <a:ea typeface="Microsoft YaHei"/>
                <a:cs typeface="Microsoft YaHei"/>
              </a:rPr>
              <a:t>可重复运行｜</a:t>
            </a:r>
            <a:r>
              <a:rPr sz="2000" b="0">
                <a:solidFill>
                  <a:srgbClr val="60727B"/>
                </a:solidFill>
                <a:latin typeface="Microsoft YaHei"/>
                <a:ea typeface="Microsoft YaHei"/>
                <a:cs typeface="Microsoft YaHei"/>
              </a:rPr>
              <a:t>一条命令重建主表、质量报告与校验结果</a:t>
            </a:r>
          </a:p>
        </p:txBody>
      </p:sp>
    </p:spTree>
    <p:extLst>
      <p:ext uri="{BB962C8B-B14F-4D97-AF65-F5344CB8AC3E}">
        <p14:creationId xmlns:p14="http://schemas.microsoft.com/office/powerpoint/2010/main" val="1346908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338</Words>
  <Application>Microsoft Office PowerPoint</Application>
  <DocSecurity>0</DocSecurity>
  <PresentationFormat>宽屏</PresentationFormat>
  <Paragraphs>77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木 流</cp:lastModifiedBy>
  <cp:revision>3</cp:revision>
  <dcterms:created xsi:type="dcterms:W3CDTF">2026-07-17T06:42:14Z</dcterms:created>
  <dcterms:modified xsi:type="dcterms:W3CDTF">2026-07-17T06:59:14Z</dcterms:modified>
</cp:coreProperties>
</file>